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599988" cy="8999538"/>
  <p:notesSz cx="6858000" cy="9144000"/>
  <p:defaultTextStyle>
    <a:defPPr>
      <a:defRPr lang="en-US"/>
    </a:defPPr>
    <a:lvl1pPr marL="0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1pPr>
    <a:lvl2pPr marL="518373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2pPr>
    <a:lvl3pPr marL="1036747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3pPr>
    <a:lvl4pPr marL="1555120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4pPr>
    <a:lvl5pPr marL="2073493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5pPr>
    <a:lvl6pPr marL="2591867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6pPr>
    <a:lvl7pPr marL="3110240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7pPr>
    <a:lvl8pPr marL="3628614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8pPr>
    <a:lvl9pPr marL="4146987" algn="l" defTabSz="1036747" rtl="0" eaLnBrk="1" latinLnBrk="0" hangingPunct="1">
      <a:defRPr sz="2041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99" y="1472842"/>
            <a:ext cx="10709990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4726842"/>
            <a:ext cx="9449991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360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91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2243638"/>
            <a:ext cx="10867490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6022610"/>
            <a:ext cx="10867490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/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75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70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2395710"/>
            <a:ext cx="5354995" cy="571012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2395710"/>
            <a:ext cx="5354995" cy="571012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4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479144"/>
            <a:ext cx="10867490" cy="173949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2" y="2206137"/>
            <a:ext cx="5330385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2" y="3287331"/>
            <a:ext cx="5330385" cy="483516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5" y="2206137"/>
            <a:ext cx="5356636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5" y="3287331"/>
            <a:ext cx="5356636" cy="483516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78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45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345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1295769"/>
            <a:ext cx="6378744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054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599969"/>
            <a:ext cx="4063824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1295769"/>
            <a:ext cx="6378744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0" y="2699862"/>
            <a:ext cx="4063824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1464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599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479142"/>
            <a:ext cx="2716872" cy="762669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50" y="479142"/>
            <a:ext cx="7993117" cy="762669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389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2395710"/>
            <a:ext cx="10867490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21BED8-B4F5-48AF-8FB9-C7A2AB26CA8F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8341240"/>
            <a:ext cx="425249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8341240"/>
            <a:ext cx="2834997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E386A0-7C32-4B55-92CA-3E458892DE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20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ctrTitle"/>
          </p:nvPr>
        </p:nvSpPr>
        <p:spPr bwMode="auto">
          <a:xfrm>
            <a:off x="1574998" y="3006171"/>
            <a:ext cx="8260365" cy="6870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4500" tIns="47250" rIns="94500" bIns="47250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l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1860" b="1" dirty="0">
                <a:latin typeface="Arial" panose="020B0604020202020204" pitchFamily="34" charset="0"/>
              </a:rPr>
              <a:t>Title:</a:t>
            </a:r>
            <a:r>
              <a:rPr lang="en-US" altLang="en-US" sz="1860" dirty="0">
                <a:latin typeface="Arial" panose="020B0604020202020204" pitchFamily="34" charset="0"/>
              </a:rPr>
              <a:t> Customer Segmentation for Nigerian E-Commerce Retailer</a:t>
            </a:r>
          </a:p>
          <a:p>
            <a:pPr algn="l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1860" b="1" dirty="0">
                <a:latin typeface="Arial" panose="020B0604020202020204" pitchFamily="34" charset="0"/>
              </a:rPr>
              <a:t>Subtitle:</a:t>
            </a:r>
            <a:r>
              <a:rPr lang="en-US" altLang="en-US" sz="1860" dirty="0">
                <a:latin typeface="Arial" panose="020B0604020202020204" pitchFamily="34" charset="0"/>
              </a:rPr>
              <a:t> CSC 63101: Data Mining and Business Intelligence (Question 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Aijuka Josbert</a:t>
            </a:r>
          </a:p>
          <a:p>
            <a:r>
              <a:rPr lang="en-US" dirty="0" smtClean="0"/>
              <a:t>2023-B071-20758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9275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dirty="0" smtClean="0"/>
              <a:t>Scenario:</a:t>
            </a:r>
            <a:r>
              <a:rPr lang="en-US" dirty="0" smtClean="0"/>
              <a:t> A Nigerian e-commerce retailer possesses sales data but lacks actionable insights on customer behavior.</a:t>
            </a:r>
          </a:p>
          <a:p>
            <a:r>
              <a:rPr lang="en-US" b="1" dirty="0" smtClean="0"/>
              <a:t>Objective:</a:t>
            </a:r>
            <a:r>
              <a:rPr lang="en-US" dirty="0" smtClean="0"/>
              <a:t> To perform customer segmentation using K-Means clustering for targeted marketing and product recommendations.</a:t>
            </a:r>
          </a:p>
          <a:p>
            <a:r>
              <a:rPr lang="en-US" b="1" dirty="0" smtClean="0"/>
              <a:t>Approach:</a:t>
            </a:r>
            <a:endParaRPr lang="en-US" dirty="0" smtClean="0"/>
          </a:p>
          <a:p>
            <a:pPr lvl="1"/>
            <a:r>
              <a:rPr lang="en-US" dirty="0" smtClean="0"/>
              <a:t>Data Preprocessing &amp; Normalization.</a:t>
            </a:r>
          </a:p>
          <a:p>
            <a:pPr lvl="1"/>
            <a:r>
              <a:rPr lang="en-US" dirty="0" smtClean="0"/>
              <a:t>Exploratory Data Analysis (EDA).</a:t>
            </a:r>
          </a:p>
          <a:p>
            <a:pPr lvl="1"/>
            <a:r>
              <a:rPr lang="en-US" dirty="0" smtClean="0"/>
              <a:t>Feature Engineering (Loyalty &amp; </a:t>
            </a:r>
            <a:r>
              <a:rPr lang="en-US" dirty="0" err="1" smtClean="0"/>
              <a:t>Recency</a:t>
            </a:r>
            <a:r>
              <a:rPr lang="en-US" dirty="0" smtClean="0"/>
              <a:t>).</a:t>
            </a:r>
          </a:p>
          <a:p>
            <a:pPr lvl="1"/>
            <a:r>
              <a:rPr lang="en-US" dirty="0" smtClean="0"/>
              <a:t>K-Means Clustering &amp; PCA.</a:t>
            </a:r>
          </a:p>
          <a:p>
            <a:pPr lvl="1"/>
            <a:r>
              <a:rPr lang="en-US" dirty="0" smtClean="0"/>
              <a:t>Power BI Dashboard for Business Insights.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959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9544" y="457795"/>
            <a:ext cx="10867489" cy="1104007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A - Data Loading &amp; Preprocessing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683388" y="1255656"/>
            <a:ext cx="11119800" cy="20990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4500" tIns="47250" rIns="94500" bIns="472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b="1" dirty="0">
                <a:latin typeface="Arial" panose="020B0604020202020204" pitchFamily="34" charset="0"/>
              </a:rPr>
              <a:t>Process:</a:t>
            </a:r>
            <a:endParaRPr lang="en-US" altLang="en-US" sz="186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dirty="0">
                <a:latin typeface="Arial" panose="020B0604020202020204" pitchFamily="34" charset="0"/>
              </a:rPr>
              <a:t>Loaded nigerian_ecommerce.xlsx.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dirty="0">
                <a:latin typeface="Arial" panose="020B0604020202020204" pitchFamily="34" charset="0"/>
              </a:rPr>
              <a:t>Cleaned data: Removed duplicates and handled missing values in Order ID and Total Price.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b="1" dirty="0">
                <a:latin typeface="Arial" panose="020B0604020202020204" pitchFamily="34" charset="0"/>
              </a:rPr>
              <a:t>Aggregation:</a:t>
            </a:r>
            <a:r>
              <a:rPr lang="en-US" altLang="en-US" sz="1860" dirty="0">
                <a:latin typeface="Arial" panose="020B0604020202020204" pitchFamily="34" charset="0"/>
              </a:rPr>
              <a:t> Grouped data by Business Name to create a "Customer Level" view.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b="1" dirty="0">
                <a:latin typeface="Arial" panose="020B0604020202020204" pitchFamily="34" charset="0"/>
              </a:rPr>
              <a:t>Normalization:</a:t>
            </a:r>
            <a:r>
              <a:rPr lang="en-US" altLang="en-US" sz="1860" dirty="0">
                <a:latin typeface="Arial" panose="020B0604020202020204" pitchFamily="34" charset="0"/>
              </a:rPr>
              <a:t> Applied </a:t>
            </a:r>
            <a:r>
              <a:rPr lang="en-US" altLang="en-US" sz="1860" dirty="0" err="1">
                <a:latin typeface="Arial" panose="020B0604020202020204" pitchFamily="34" charset="0"/>
              </a:rPr>
              <a:t>MinMax</a:t>
            </a:r>
            <a:r>
              <a:rPr lang="en-US" altLang="en-US" sz="1860" dirty="0">
                <a:latin typeface="Arial" panose="020B0604020202020204" pitchFamily="34" charset="0"/>
              </a:rPr>
              <a:t> Scaling to Frequency and Monetary values to ensure equal weighting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dirty="0">
                <a:latin typeface="Arial" panose="020B0604020202020204" pitchFamily="34" charset="0"/>
              </a:rPr>
              <a:t>during clustering.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60" dirty="0">
              <a:latin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44" y="3354704"/>
            <a:ext cx="8744126" cy="5474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9868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780030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B - Exploratory Data Analysis (EDA)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1397" y="986635"/>
            <a:ext cx="10867490" cy="2955778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 smtClean="0"/>
              <a:t>Descriptive Statistics:</a:t>
            </a:r>
            <a:r>
              <a:rPr lang="en-US" dirty="0" smtClean="0"/>
              <a:t> Analyzed the spread of purchase values and order counts.</a:t>
            </a:r>
          </a:p>
          <a:p>
            <a:r>
              <a:rPr lang="en-US" b="1" dirty="0" smtClean="0"/>
              <a:t>Visualizations:</a:t>
            </a:r>
            <a:endParaRPr lang="en-US" dirty="0" smtClean="0"/>
          </a:p>
          <a:p>
            <a:pPr lvl="1"/>
            <a:r>
              <a:rPr lang="en-US" b="1" dirty="0" smtClean="0"/>
              <a:t>Histograms:</a:t>
            </a:r>
            <a:r>
              <a:rPr lang="en-US" dirty="0" smtClean="0"/>
              <a:t> Showed that most customers make small, infrequent purchases (Right-skewed distribution).</a:t>
            </a:r>
          </a:p>
          <a:p>
            <a:pPr lvl="1"/>
            <a:r>
              <a:rPr lang="en-US" b="1" dirty="0" smtClean="0"/>
              <a:t>Correlation:</a:t>
            </a:r>
            <a:r>
              <a:rPr lang="en-US" dirty="0" smtClean="0"/>
              <a:t> Verified the relationship between Frequency and Total Spend.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514" y="3942413"/>
            <a:ext cx="11325225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879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839990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C - Feature Engineering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899140"/>
            <a:ext cx="10867490" cy="3957673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 smtClean="0"/>
              <a:t>Goal:</a:t>
            </a:r>
            <a:r>
              <a:rPr lang="en-US" dirty="0" smtClean="0"/>
              <a:t> Create meaningful metrics for the model.</a:t>
            </a:r>
          </a:p>
          <a:p>
            <a:r>
              <a:rPr lang="en-US" b="1" dirty="0" smtClean="0"/>
              <a:t>Derived Features:</a:t>
            </a:r>
            <a:endParaRPr lang="en-US" dirty="0" smtClean="0"/>
          </a:p>
          <a:p>
            <a:pPr lvl="1"/>
            <a:r>
              <a:rPr lang="en-US" b="1" dirty="0" smtClean="0"/>
              <a:t>Loyalty Index:</a:t>
            </a:r>
            <a:r>
              <a:rPr lang="en-US" dirty="0" smtClean="0"/>
              <a:t> A composite score (50% Frequency + 50% Monetary).</a:t>
            </a:r>
          </a:p>
          <a:p>
            <a:pPr lvl="2"/>
            <a:r>
              <a:rPr lang="en-US" i="1" dirty="0" smtClean="0">
                <a:effectLst/>
              </a:rPr>
              <a:t>Why:</a:t>
            </a:r>
            <a:r>
              <a:rPr lang="en-US" dirty="0" smtClean="0"/>
              <a:t> Identifies high-value, active customers.</a:t>
            </a:r>
          </a:p>
          <a:p>
            <a:pPr lvl="1"/>
            <a:r>
              <a:rPr lang="en-US" b="1" dirty="0" err="1" smtClean="0"/>
              <a:t>Recency</a:t>
            </a:r>
            <a:r>
              <a:rPr lang="en-US" b="1" dirty="0" smtClean="0"/>
              <a:t> Score:</a:t>
            </a:r>
            <a:r>
              <a:rPr lang="en-US" dirty="0" smtClean="0"/>
              <a:t> Grouped customers into quartiles (1-4) based on days since last purchase.</a:t>
            </a:r>
          </a:p>
          <a:p>
            <a:pPr lvl="2"/>
            <a:r>
              <a:rPr lang="en-US" i="1" dirty="0" smtClean="0">
                <a:effectLst/>
              </a:rPr>
              <a:t>Why:</a:t>
            </a:r>
            <a:r>
              <a:rPr lang="en-US" dirty="0" smtClean="0"/>
              <a:t> Helps identify "Churn Risk" (customers who haven't bought in a long time).</a:t>
            </a:r>
          </a:p>
        </p:txBody>
      </p:sp>
    </p:spTree>
    <p:extLst>
      <p:ext uri="{BB962C8B-B14F-4D97-AF65-F5344CB8AC3E}">
        <p14:creationId xmlns:p14="http://schemas.microsoft.com/office/powerpoint/2010/main" val="329690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4"/>
            <a:ext cx="10867490" cy="612237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D - Modeling (The Elbow Method)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4520" y="785262"/>
            <a:ext cx="10867490" cy="4597899"/>
          </a:xfrm>
        </p:spPr>
        <p:txBody>
          <a:bodyPr>
            <a:normAutofit/>
          </a:bodyPr>
          <a:lstStyle/>
          <a:p>
            <a:r>
              <a:rPr lang="en-US" b="1" dirty="0" smtClean="0"/>
              <a:t>Algorithm:</a:t>
            </a:r>
            <a:r>
              <a:rPr lang="en-US" dirty="0" smtClean="0"/>
              <a:t> K-Means Clustering.</a:t>
            </a:r>
          </a:p>
          <a:p>
            <a:r>
              <a:rPr lang="en-US" b="1" dirty="0" smtClean="0"/>
              <a:t>Determining k:</a:t>
            </a:r>
            <a:endParaRPr lang="en-US" dirty="0" smtClean="0"/>
          </a:p>
          <a:p>
            <a:pPr lvl="1"/>
            <a:r>
              <a:rPr lang="en-US" dirty="0" smtClean="0"/>
              <a:t>Ran the algorithm for k=2 to k=10.</a:t>
            </a:r>
          </a:p>
          <a:p>
            <a:pPr lvl="1"/>
            <a:r>
              <a:rPr lang="en-US" dirty="0" smtClean="0"/>
              <a:t>Calculated Inertia (Sum of squared distances).</a:t>
            </a:r>
          </a:p>
          <a:p>
            <a:r>
              <a:rPr lang="en-US" b="1" dirty="0" smtClean="0"/>
              <a:t>Result:</a:t>
            </a:r>
            <a:r>
              <a:rPr lang="en-US" dirty="0" smtClean="0"/>
              <a:t> The "Elbow" point was identified at </a:t>
            </a:r>
            <a:r>
              <a:rPr lang="en-US" b="1" dirty="0" smtClean="0"/>
              <a:t>k=4</a:t>
            </a:r>
            <a:r>
              <a:rPr lang="en-US" dirty="0" smtClean="0"/>
              <a:t>, indicating the optimal number of clusters.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37" y="4247535"/>
            <a:ext cx="8928024" cy="47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777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96619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D - Clustering Visualization (PCA)</a:t>
            </a:r>
            <a:br>
              <a:rPr lang="en-US" b="1" dirty="0" smtClean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1171594"/>
            <a:ext cx="10867490" cy="2500754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 smtClean="0"/>
              <a:t>Dimensionality Reduction:</a:t>
            </a:r>
            <a:r>
              <a:rPr lang="en-US" dirty="0" smtClean="0"/>
              <a:t> Used Principal Component Analysis (PCA) to reduce data to 2 dimensions (PCA1, PCA2).</a:t>
            </a:r>
          </a:p>
          <a:p>
            <a:r>
              <a:rPr lang="en-US" b="1" dirty="0" smtClean="0"/>
              <a:t>Observation:</a:t>
            </a:r>
            <a:endParaRPr lang="en-US" dirty="0" smtClean="0"/>
          </a:p>
          <a:p>
            <a:pPr lvl="1"/>
            <a:r>
              <a:rPr lang="en-US" dirty="0" smtClean="0"/>
              <a:t>The scatter plot shows distinct, separated groups.</a:t>
            </a:r>
          </a:p>
          <a:p>
            <a:pPr lvl="1"/>
            <a:r>
              <a:rPr lang="en-US" dirty="0" smtClean="0"/>
              <a:t>Validates that the K-Means algorithm successfully segmented the customers based on behavior.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905" y="3672348"/>
            <a:ext cx="9845650" cy="5423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029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59748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E - Power BI Dashboard (Overview)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6249" y="1076633"/>
            <a:ext cx="10867490" cy="2595715"/>
          </a:xfrm>
        </p:spPr>
        <p:txBody>
          <a:bodyPr>
            <a:normAutofit lnSpcReduction="10000"/>
          </a:bodyPr>
          <a:lstStyle/>
          <a:p>
            <a:r>
              <a:rPr lang="en-US" b="1" dirty="0" smtClean="0"/>
              <a:t>Dashboard Components:</a:t>
            </a:r>
            <a:endParaRPr lang="en-US" dirty="0" smtClean="0"/>
          </a:p>
          <a:p>
            <a:pPr lvl="1"/>
            <a:r>
              <a:rPr lang="en-US" b="1" dirty="0" smtClean="0"/>
              <a:t>Cluster Distribution:</a:t>
            </a:r>
            <a:r>
              <a:rPr lang="en-US" dirty="0" smtClean="0"/>
              <a:t> Counts of customers per group.</a:t>
            </a:r>
          </a:p>
          <a:p>
            <a:pPr lvl="1"/>
            <a:r>
              <a:rPr lang="en-US" b="1" dirty="0" smtClean="0"/>
              <a:t>Average Monetary:</a:t>
            </a:r>
            <a:r>
              <a:rPr lang="en-US" dirty="0" smtClean="0"/>
              <a:t> Average spend per group.</a:t>
            </a:r>
          </a:p>
          <a:p>
            <a:pPr lvl="1"/>
            <a:r>
              <a:rPr lang="en-US" b="1" dirty="0" smtClean="0"/>
              <a:t>Average Frequency:</a:t>
            </a:r>
            <a:r>
              <a:rPr lang="en-US" dirty="0" smtClean="0"/>
              <a:t> Average orders per group.</a:t>
            </a:r>
          </a:p>
          <a:p>
            <a:pPr lvl="1"/>
            <a:r>
              <a:rPr lang="en-US" b="1" dirty="0" smtClean="0"/>
              <a:t>PCA Plot:</a:t>
            </a:r>
            <a:r>
              <a:rPr lang="en-US" dirty="0" smtClean="0"/>
              <a:t> Visual validation.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26" y="3547914"/>
            <a:ext cx="11474245" cy="516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296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49" y="479145"/>
            <a:ext cx="10867490" cy="1054688"/>
          </a:xfrm>
        </p:spPr>
        <p:txBody>
          <a:bodyPr>
            <a:normAutofit fontScale="90000"/>
          </a:bodyPr>
          <a:lstStyle/>
          <a:p>
            <a:r>
              <a:rPr lang="en-US" b="1" dirty="0" smtClean="0"/>
              <a:t>Part E - Insights &amp; Recommendations</a:t>
            </a:r>
            <a:br>
              <a:rPr lang="en-US" b="1" dirty="0" smtClean="0"/>
            </a:b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866249" y="1533833"/>
            <a:ext cx="10673634" cy="29577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500" tIns="47250" rIns="94500" bIns="47250" numCol="1" rtlCol="0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b="1" dirty="0">
                <a:latin typeface="Arial" panose="020B0604020202020204" pitchFamily="34" charset="0"/>
              </a:rPr>
              <a:t>Cluster Strategy:</a:t>
            </a:r>
            <a:endParaRPr lang="en-US" altLang="en-US" sz="1860" dirty="0">
              <a:latin typeface="Arial" panose="020B0604020202020204" pitchFamily="34" charset="0"/>
            </a:endParaRPr>
          </a:p>
          <a:p>
            <a:pPr marL="472516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b="1" dirty="0">
                <a:latin typeface="Arial" panose="020B0604020202020204" pitchFamily="34" charset="0"/>
              </a:rPr>
              <a:t>VIP/Champions:</a:t>
            </a:r>
            <a:r>
              <a:rPr lang="en-US" altLang="en-US" sz="1860" dirty="0">
                <a:latin typeface="Arial" panose="020B0604020202020204" pitchFamily="34" charset="0"/>
              </a:rPr>
              <a:t> High Spend/</a:t>
            </a:r>
            <a:r>
              <a:rPr lang="en-US" altLang="en-US" sz="1860" dirty="0" err="1">
                <a:latin typeface="Arial" panose="020B0604020202020204" pitchFamily="34" charset="0"/>
              </a:rPr>
              <a:t>Freq</a:t>
            </a:r>
            <a:r>
              <a:rPr lang="en-US" altLang="en-US" sz="1860" dirty="0">
                <a:latin typeface="Arial" panose="020B0604020202020204" pitchFamily="34" charset="0"/>
              </a:rPr>
              <a:t> </a:t>
            </a:r>
            <a:endParaRPr lang="en-US" altLang="en-US" sz="1860" dirty="0">
              <a:latin typeface="Arial Unicode MS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i="1" dirty="0" smtClean="0"/>
              <a:t>Action</a:t>
            </a:r>
            <a:r>
              <a:rPr lang="en-US" altLang="en-US" sz="1860" i="1" dirty="0"/>
              <a:t>: Loyalty Rewards.</a:t>
            </a:r>
            <a:endParaRPr lang="en-US" altLang="en-US" sz="1860" dirty="0">
              <a:latin typeface="Arial" panose="020B0604020202020204" pitchFamily="34" charset="0"/>
            </a:endParaRPr>
          </a:p>
          <a:p>
            <a:pPr marL="472516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b="1" dirty="0">
                <a:latin typeface="Arial" panose="020B0604020202020204" pitchFamily="34" charset="0"/>
              </a:rPr>
              <a:t>Standard:</a:t>
            </a:r>
            <a:r>
              <a:rPr lang="en-US" altLang="en-US" sz="1860" dirty="0">
                <a:latin typeface="Arial" panose="020B0604020202020204" pitchFamily="34" charset="0"/>
              </a:rPr>
              <a:t> Average behavior </a:t>
            </a:r>
            <a:endParaRPr lang="en-US" altLang="en-US" sz="1860" dirty="0" smtClean="0">
              <a:latin typeface="Arial Unicode MS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i="1" dirty="0" smtClean="0"/>
              <a:t>Action: Regular Promos.</a:t>
            </a:r>
            <a:endParaRPr lang="en-US" altLang="en-US" sz="1860" dirty="0" smtClean="0">
              <a:latin typeface="Arial" panose="020B0604020202020204" pitchFamily="34" charset="0"/>
            </a:endParaRPr>
          </a:p>
          <a:p>
            <a:pPr marL="472516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b="1" dirty="0" smtClean="0">
                <a:latin typeface="Arial" panose="020B0604020202020204" pitchFamily="34" charset="0"/>
              </a:rPr>
              <a:t>New </a:t>
            </a:r>
            <a:r>
              <a:rPr lang="en-US" altLang="en-US" sz="1860" b="1" dirty="0">
                <a:latin typeface="Arial" panose="020B0604020202020204" pitchFamily="34" charset="0"/>
              </a:rPr>
              <a:t>Potential:</a:t>
            </a:r>
            <a:r>
              <a:rPr lang="en-US" altLang="en-US" sz="1860" dirty="0">
                <a:latin typeface="Arial" panose="020B0604020202020204" pitchFamily="34" charset="0"/>
              </a:rPr>
              <a:t> Low </a:t>
            </a:r>
            <a:r>
              <a:rPr lang="en-US" altLang="en-US" sz="1860" dirty="0" err="1">
                <a:latin typeface="Arial" panose="020B0604020202020204" pitchFamily="34" charset="0"/>
              </a:rPr>
              <a:t>Freq</a:t>
            </a:r>
            <a:r>
              <a:rPr lang="en-US" altLang="en-US" sz="1860" dirty="0">
                <a:latin typeface="Arial" panose="020B0604020202020204" pitchFamily="34" charset="0"/>
              </a:rPr>
              <a:t>/Recent </a:t>
            </a:r>
            <a:endParaRPr lang="en-US" altLang="en-US" sz="1860" dirty="0">
              <a:latin typeface="Arial Unicode MS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i="1" dirty="0" smtClean="0"/>
              <a:t>Action</a:t>
            </a:r>
            <a:r>
              <a:rPr lang="en-US" altLang="en-US" sz="1860" i="1" dirty="0"/>
              <a:t>: Free Shipping on next order.</a:t>
            </a:r>
            <a:endParaRPr lang="en-US" altLang="en-US" sz="1860" dirty="0">
              <a:latin typeface="Arial" panose="020B0604020202020204" pitchFamily="34" charset="0"/>
            </a:endParaRPr>
          </a:p>
          <a:p>
            <a:pPr marL="472516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60" b="1" dirty="0">
                <a:latin typeface="Arial" panose="020B0604020202020204" pitchFamily="34" charset="0"/>
              </a:rPr>
              <a:t>At Risk/Lost:</a:t>
            </a:r>
            <a:r>
              <a:rPr lang="en-US" altLang="en-US" sz="1860" dirty="0">
                <a:latin typeface="Arial" panose="020B0604020202020204" pitchFamily="34" charset="0"/>
              </a:rPr>
              <a:t> High </a:t>
            </a:r>
            <a:r>
              <a:rPr lang="en-US" altLang="en-US" sz="1860" dirty="0" err="1">
                <a:latin typeface="Arial" panose="020B0604020202020204" pitchFamily="34" charset="0"/>
              </a:rPr>
              <a:t>Recency</a:t>
            </a:r>
            <a:r>
              <a:rPr lang="en-US" altLang="en-US" sz="1860" dirty="0">
                <a:latin typeface="Arial" panose="020B0604020202020204" pitchFamily="34" charset="0"/>
              </a:rPr>
              <a:t> (Long time ago) </a:t>
            </a:r>
            <a:endParaRPr lang="en-US" altLang="en-US" sz="1860" dirty="0">
              <a:latin typeface="Arial Unicode MS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860" i="1" dirty="0" smtClean="0"/>
              <a:t>Action</a:t>
            </a:r>
            <a:r>
              <a:rPr lang="en-US" altLang="en-US" sz="1860" i="1" dirty="0"/>
              <a:t>: Win-back Coupons.</a:t>
            </a:r>
            <a:endParaRPr lang="en-US" altLang="en-US" sz="186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860" dirty="0">
              <a:latin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853" y="4321278"/>
            <a:ext cx="10152886" cy="432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813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60</TotalTime>
  <Words>480</Words>
  <Application>Microsoft Office PowerPoint</Application>
  <PresentationFormat>Custom</PresentationFormat>
  <Paragraphs>59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Arial Unicode MS</vt:lpstr>
      <vt:lpstr>Calibri</vt:lpstr>
      <vt:lpstr>Calibri Light</vt:lpstr>
      <vt:lpstr>Office Theme</vt:lpstr>
      <vt:lpstr>Title: Customer Segmentation for Nigerian E-Commerce Retailer Subtitle: CSC 63101: Data Mining and Business Intelligence (Question 2)</vt:lpstr>
      <vt:lpstr>Objectives </vt:lpstr>
      <vt:lpstr>Part A - Data Loading &amp; Preprocessing </vt:lpstr>
      <vt:lpstr>Part B - Exploratory Data Analysis (EDA) </vt:lpstr>
      <vt:lpstr>Part C - Feature Engineering </vt:lpstr>
      <vt:lpstr>Part D - Modeling (The Elbow Method) </vt:lpstr>
      <vt:lpstr>Part D - Clustering Visualization (PCA) </vt:lpstr>
      <vt:lpstr>Part E - Power BI Dashboard (Overview)</vt:lpstr>
      <vt:lpstr>Part E - Insights &amp; Recommendations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Title: Customer Segmentation for Nigerian E-Commerce Retailer Subtitle: CSC 63101: Data Mining and Business Intelligence (Question 2)</dc:title>
  <dc:creator>Lunatic</dc:creator>
  <cp:lastModifiedBy>Lunatic</cp:lastModifiedBy>
  <cp:revision>10</cp:revision>
  <dcterms:created xsi:type="dcterms:W3CDTF">2025-11-25T18:42:08Z</dcterms:created>
  <dcterms:modified xsi:type="dcterms:W3CDTF">2025-11-25T19:42:19Z</dcterms:modified>
</cp:coreProperties>
</file>