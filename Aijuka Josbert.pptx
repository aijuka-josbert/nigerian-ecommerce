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599988" cy="8999538"/>
  <p:notesSz cx="6858000" cy="9144000"/>
  <p:defaultTextStyle>
    <a:defPPr>
      <a:defRPr lang="en-US"/>
    </a:defPPr>
    <a:lvl1pPr marL="0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1pPr>
    <a:lvl2pPr marL="518373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2pPr>
    <a:lvl3pPr marL="1036747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3pPr>
    <a:lvl4pPr marL="1555120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4pPr>
    <a:lvl5pPr marL="2073493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5pPr>
    <a:lvl6pPr marL="2591867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6pPr>
    <a:lvl7pPr marL="3110240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7pPr>
    <a:lvl8pPr marL="3628614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8pPr>
    <a:lvl9pPr marL="4146987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11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99" y="1472842"/>
            <a:ext cx="10709990" cy="3133172"/>
          </a:xfrm>
        </p:spPr>
        <p:txBody>
          <a:bodyPr anchor="b"/>
          <a:lstStyle>
            <a:lvl1pPr algn="ctr">
              <a:defRPr sz="7874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4726842"/>
            <a:ext cx="9449991" cy="2172804"/>
          </a:xfrm>
        </p:spPr>
        <p:txBody>
          <a:bodyPr/>
          <a:lstStyle>
            <a:lvl1pPr marL="0" indent="0" algn="ctr">
              <a:buNone/>
              <a:defRPr sz="3150"/>
            </a:lvl1pPr>
            <a:lvl2pPr marL="599984" indent="0" algn="ctr">
              <a:buNone/>
              <a:defRPr sz="2625"/>
            </a:lvl2pPr>
            <a:lvl3pPr marL="1199967" indent="0" algn="ctr">
              <a:buNone/>
              <a:defRPr sz="2362"/>
            </a:lvl3pPr>
            <a:lvl4pPr marL="1799951" indent="0" algn="ctr">
              <a:buNone/>
              <a:defRPr sz="2100"/>
            </a:lvl4pPr>
            <a:lvl5pPr marL="2399934" indent="0" algn="ctr">
              <a:buNone/>
              <a:defRPr sz="2100"/>
            </a:lvl5pPr>
            <a:lvl6pPr marL="2999918" indent="0" algn="ctr">
              <a:buNone/>
              <a:defRPr sz="2100"/>
            </a:lvl6pPr>
            <a:lvl7pPr marL="3599901" indent="0" algn="ctr">
              <a:buNone/>
              <a:defRPr sz="2100"/>
            </a:lvl7pPr>
            <a:lvl8pPr marL="4199885" indent="0" algn="ctr">
              <a:buNone/>
              <a:defRPr sz="2100"/>
            </a:lvl8pPr>
            <a:lvl9pPr marL="4799868" indent="0" algn="ctr">
              <a:buNone/>
              <a:defRPr sz="21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36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591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2243638"/>
            <a:ext cx="10867490" cy="3743557"/>
          </a:xfrm>
        </p:spPr>
        <p:txBody>
          <a:bodyPr anchor="b"/>
          <a:lstStyle>
            <a:lvl1pPr>
              <a:defRPr sz="7874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6022610"/>
            <a:ext cx="10867490" cy="1968648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/>
                </a:solidFill>
              </a:defRPr>
            </a:lvl1pPr>
            <a:lvl2pPr marL="599984" indent="0">
              <a:buNone/>
              <a:defRPr sz="2625">
                <a:solidFill>
                  <a:schemeClr val="tx1">
                    <a:tint val="75000"/>
                  </a:schemeClr>
                </a:solidFill>
              </a:defRPr>
            </a:lvl2pPr>
            <a:lvl3pPr marL="1199967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3pPr>
            <a:lvl4pPr marL="179995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399934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299991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359990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199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479986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70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2395710"/>
            <a:ext cx="5354995" cy="571012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2395710"/>
            <a:ext cx="5354995" cy="571012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64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479144"/>
            <a:ext cx="10867490" cy="173949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2" y="2206137"/>
            <a:ext cx="5330385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2" y="3287331"/>
            <a:ext cx="5330385" cy="483516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5" y="2206137"/>
            <a:ext cx="5356636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5" y="3287331"/>
            <a:ext cx="5356636" cy="483516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78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45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34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599969"/>
            <a:ext cx="4063824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1295769"/>
            <a:ext cx="6378744" cy="6395505"/>
          </a:xfrm>
        </p:spPr>
        <p:txBody>
          <a:bodyPr/>
          <a:lstStyle>
            <a:lvl1pPr>
              <a:defRPr sz="4199"/>
            </a:lvl1pPr>
            <a:lvl2pPr>
              <a:defRPr sz="3674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2699862"/>
            <a:ext cx="4063824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054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599969"/>
            <a:ext cx="4063824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1295769"/>
            <a:ext cx="6378744" cy="6395505"/>
          </a:xfrm>
        </p:spPr>
        <p:txBody>
          <a:bodyPr anchor="t"/>
          <a:lstStyle>
            <a:lvl1pPr marL="0" indent="0">
              <a:buNone/>
              <a:defRPr sz="4199"/>
            </a:lvl1pPr>
            <a:lvl2pPr marL="599984" indent="0">
              <a:buNone/>
              <a:defRPr sz="3674"/>
            </a:lvl2pPr>
            <a:lvl3pPr marL="1199967" indent="0">
              <a:buNone/>
              <a:defRPr sz="3150"/>
            </a:lvl3pPr>
            <a:lvl4pPr marL="1799951" indent="0">
              <a:buNone/>
              <a:defRPr sz="2625"/>
            </a:lvl4pPr>
            <a:lvl5pPr marL="2399934" indent="0">
              <a:buNone/>
              <a:defRPr sz="2625"/>
            </a:lvl5pPr>
            <a:lvl6pPr marL="2999918" indent="0">
              <a:buNone/>
              <a:defRPr sz="2625"/>
            </a:lvl6pPr>
            <a:lvl7pPr marL="3599901" indent="0">
              <a:buNone/>
              <a:defRPr sz="2625"/>
            </a:lvl7pPr>
            <a:lvl8pPr marL="4199885" indent="0">
              <a:buNone/>
              <a:defRPr sz="2625"/>
            </a:lvl8pPr>
            <a:lvl9pPr marL="4799868" indent="0">
              <a:buNone/>
              <a:defRPr sz="2625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2699862"/>
            <a:ext cx="4063824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146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599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479142"/>
            <a:ext cx="2716872" cy="762669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50" y="479142"/>
            <a:ext cx="7993117" cy="762669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389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479144"/>
            <a:ext cx="10867490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2395710"/>
            <a:ext cx="10867490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8341240"/>
            <a:ext cx="2834997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1BED8-B4F5-48AF-8FB9-C7A2AB26CA8F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8341240"/>
            <a:ext cx="425249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8341240"/>
            <a:ext cx="2834997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20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99967" rtl="0" eaLnBrk="1" latinLnBrk="0" hangingPunct="1">
        <a:lnSpc>
          <a:spcPct val="90000"/>
        </a:lnSpc>
        <a:spcBef>
          <a:spcPct val="0"/>
        </a:spcBef>
        <a:buNone/>
        <a:defRPr sz="577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9992" indent="-299992" algn="l" defTabSz="119996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3674" kern="1200">
          <a:solidFill>
            <a:schemeClr val="tx1"/>
          </a:solidFill>
          <a:latin typeface="+mn-lt"/>
          <a:ea typeface="+mn-ea"/>
          <a:cs typeface="+mn-cs"/>
        </a:defRPr>
      </a:lvl1pPr>
      <a:lvl2pPr marL="899975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499959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099942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699926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329991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899893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499877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509986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1pPr>
      <a:lvl2pPr marL="59998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99967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79995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39993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299991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59990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199885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479986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ctrTitle"/>
          </p:nvPr>
        </p:nvSpPr>
        <p:spPr bwMode="auto">
          <a:xfrm>
            <a:off x="1574998" y="3006171"/>
            <a:ext cx="8260365" cy="6870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4500" tIns="47250" rIns="94500" bIns="4725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1860" b="1" dirty="0">
                <a:latin typeface="Arial" panose="020B0604020202020204" pitchFamily="34" charset="0"/>
              </a:rPr>
              <a:t>Title:</a:t>
            </a:r>
            <a:r>
              <a:rPr lang="en-US" altLang="en-US" sz="1860" dirty="0">
                <a:latin typeface="Arial" panose="020B0604020202020204" pitchFamily="34" charset="0"/>
              </a:rPr>
              <a:t> Customer Segmentation for Nigerian E-Commerce Retailer</a:t>
            </a:r>
          </a:p>
          <a:p>
            <a:pPr algn="l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1860" b="1" dirty="0">
                <a:latin typeface="Arial" panose="020B0604020202020204" pitchFamily="34" charset="0"/>
              </a:rPr>
              <a:t>Subtitle:</a:t>
            </a:r>
            <a:r>
              <a:rPr lang="en-US" altLang="en-US" sz="1860" dirty="0">
                <a:latin typeface="Arial" panose="020B0604020202020204" pitchFamily="34" charset="0"/>
              </a:rPr>
              <a:t> CSC 63101: Data Mining and Business Intelligence (Question 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Aijuka Josbert</a:t>
            </a:r>
          </a:p>
          <a:p>
            <a:r>
              <a:rPr lang="en-US" dirty="0" smtClean="0"/>
              <a:t>2023-B071-20758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927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 </a:t>
            </a:r>
            <a:endParaRPr lang="en-US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290516" y="2362081"/>
            <a:ext cx="12080166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Scenario: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Nigerian retail company wants to improve marketing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through targeted segmentation.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Objective:</a:t>
            </a:r>
            <a:endParaRPr kumimoji="0" lang="en-US" altLang="en-US" sz="3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Preprocess raw sales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Analyze customer behavior trends.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Engineer features (Loyalty &amp; </a:t>
            </a:r>
            <a:r>
              <a:rPr kumimoji="0" lang="en-US" altLang="en-US" sz="3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Recency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Apply K-Means Clustering to group customers.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 an interactive Dashboard for recommendations.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Tools Used: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Python Notebook&amp; Power BI.</a:t>
            </a:r>
          </a:p>
        </p:txBody>
      </p:sp>
    </p:spTree>
    <p:extLst>
      <p:ext uri="{BB962C8B-B14F-4D97-AF65-F5344CB8AC3E}">
        <p14:creationId xmlns:p14="http://schemas.microsoft.com/office/powerpoint/2010/main" val="1009959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9544" y="457795"/>
            <a:ext cx="10867489" cy="1104007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Part A - Data Loading &amp; Preprocessing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428455" y="1150699"/>
            <a:ext cx="8613012" cy="19702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500" tIns="47250" rIns="94500" bIns="4725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700" b="1" dirty="0"/>
              <a:t>Data Preprocessing</a:t>
            </a:r>
          </a:p>
          <a:p>
            <a:r>
              <a:rPr lang="en-US" sz="1700" b="1" dirty="0"/>
              <a:t>Steps Taken:</a:t>
            </a:r>
            <a:endParaRPr lang="en-US" sz="1700" dirty="0"/>
          </a:p>
          <a:p>
            <a:pPr lvl="1"/>
            <a:r>
              <a:rPr lang="en-US" sz="1700" dirty="0"/>
              <a:t>Loaded dataset and converted Dates.</a:t>
            </a:r>
          </a:p>
          <a:p>
            <a:pPr lvl="1"/>
            <a:r>
              <a:rPr lang="en-US" sz="1700" dirty="0"/>
              <a:t>Removed duplicates and missing values.</a:t>
            </a:r>
          </a:p>
          <a:p>
            <a:pPr lvl="1"/>
            <a:r>
              <a:rPr lang="en-US" sz="1700" dirty="0"/>
              <a:t>Aggregated data to </a:t>
            </a:r>
            <a:r>
              <a:rPr lang="en-US" sz="1700" b="1" dirty="0"/>
              <a:t>Customer Level</a:t>
            </a:r>
            <a:r>
              <a:rPr lang="en-US" sz="1700" dirty="0"/>
              <a:t> (grouped by Business Name).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700" dirty="0">
              <a:latin typeface="Arial" panose="020B06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44" y="3354704"/>
            <a:ext cx="8744126" cy="5474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98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206605"/>
            <a:ext cx="10867490" cy="78003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Part B - Descriptive Statistics</a:t>
            </a:r>
          </a:p>
        </p:txBody>
      </p:sp>
      <p:sp>
        <p:nvSpPr>
          <p:cNvPr id="8" name="Rectangle 4"/>
          <p:cNvSpPr>
            <a:spLocks noGrp="1" noChangeArrowheads="1"/>
          </p:cNvSpPr>
          <p:nvPr>
            <p:ph idx="1"/>
          </p:nvPr>
        </p:nvSpPr>
        <p:spPr bwMode="auto">
          <a:xfrm>
            <a:off x="675216" y="1139498"/>
            <a:ext cx="1119409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Analysis: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Summary of key variables (Frequency, Total Spend,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Dayss-since_last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Interpretation: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Example: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"The data shows high variance in Total Spend, indicating a mix of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wholesale and retail buyers.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933" y="3356609"/>
            <a:ext cx="8127999" cy="453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879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83999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Part B - Distribution Analysis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9" y="899140"/>
            <a:ext cx="10867490" cy="2368993"/>
          </a:xfrm>
        </p:spPr>
        <p:txBody>
          <a:bodyPr>
            <a:normAutofit/>
          </a:bodyPr>
          <a:lstStyle/>
          <a:p>
            <a:r>
              <a:rPr lang="en-US" b="1" dirty="0"/>
              <a:t>Visuals:</a:t>
            </a:r>
            <a:r>
              <a:rPr lang="en-US" dirty="0"/>
              <a:t> Understanding data spread and outliers.</a:t>
            </a:r>
          </a:p>
          <a:p>
            <a:r>
              <a:rPr lang="en-US" b="1" dirty="0" smtClean="0"/>
              <a:t>Observation</a:t>
            </a:r>
            <a:r>
              <a:rPr lang="en-US" b="1" dirty="0"/>
              <a:t>:</a:t>
            </a:r>
            <a:r>
              <a:rPr lang="en-US" dirty="0"/>
              <a:t> The data is right-skewed; most customers buy infrequently, but a few "whales" buy very often.</a:t>
            </a:r>
          </a:p>
          <a:p>
            <a:endParaRPr lang="en-US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81" y="3522133"/>
            <a:ext cx="1132522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90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4"/>
            <a:ext cx="10867490" cy="612237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Part B - Correlation Analysis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20" y="785264"/>
            <a:ext cx="10867490" cy="197487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Goal:</a:t>
            </a:r>
            <a:r>
              <a:rPr lang="en-US" dirty="0"/>
              <a:t> Identify relationships between variables.</a:t>
            </a:r>
          </a:p>
          <a:p>
            <a:pPr marL="0" indent="0">
              <a:buNone/>
            </a:pPr>
            <a:r>
              <a:rPr lang="en-US" b="1" dirty="0" smtClean="0"/>
              <a:t>Interpretation</a:t>
            </a:r>
            <a:r>
              <a:rPr lang="en-US" b="1" dirty="0"/>
              <a:t>:</a:t>
            </a:r>
            <a:endParaRPr lang="en-US" dirty="0"/>
          </a:p>
          <a:p>
            <a:pPr lvl="1"/>
            <a:r>
              <a:rPr lang="en-US" dirty="0"/>
              <a:t>Strong positive correlation between Frequency and Total Spend.</a:t>
            </a:r>
          </a:p>
          <a:p>
            <a:pPr lvl="1"/>
            <a:r>
              <a:rPr lang="en-US" dirty="0"/>
              <a:t>Negative correlation between Days Since Last Order and Spend (Churned customers spend less).</a:t>
            </a:r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49" y="2760135"/>
            <a:ext cx="9717084" cy="5977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777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96619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Part C - Feature Engineering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9" y="1171594"/>
            <a:ext cx="10867490" cy="2299739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Derived Features:</a:t>
            </a:r>
            <a:endParaRPr lang="en-US" dirty="0"/>
          </a:p>
          <a:p>
            <a:pPr lvl="1"/>
            <a:r>
              <a:rPr lang="en-US" b="1" dirty="0"/>
              <a:t>Loyalty Index:</a:t>
            </a:r>
            <a:r>
              <a:rPr lang="en-US" dirty="0"/>
              <a:t> Calculated as Frequency × </a:t>
            </a:r>
            <a:r>
              <a:rPr lang="en-US" dirty="0" err="1"/>
              <a:t>Avg_Purchase_Value</a:t>
            </a:r>
            <a:r>
              <a:rPr lang="en-US" dirty="0"/>
              <a:t>. This highlights high-volume, high-value clients.</a:t>
            </a:r>
          </a:p>
          <a:p>
            <a:pPr lvl="1"/>
            <a:r>
              <a:rPr lang="en-US" b="1" dirty="0" err="1"/>
              <a:t>Recency</a:t>
            </a:r>
            <a:r>
              <a:rPr lang="en-US" b="1" dirty="0"/>
              <a:t> Score:</a:t>
            </a:r>
            <a:r>
              <a:rPr lang="en-US" dirty="0"/>
              <a:t> Categorical score (1–5) derived from 'Days Since Last Purchase'.</a:t>
            </a:r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65" y="5943600"/>
            <a:ext cx="8802429" cy="210628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64" y="3708399"/>
            <a:ext cx="8802429" cy="174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029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59748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Part D - Clustering (Elbow Method)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9" y="1076633"/>
            <a:ext cx="10867490" cy="2276167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Algorithm:</a:t>
            </a:r>
            <a:r>
              <a:rPr lang="en-US" dirty="0"/>
              <a:t> K-Means Clustering.</a:t>
            </a:r>
          </a:p>
          <a:p>
            <a:r>
              <a:rPr lang="en-US" b="1" dirty="0"/>
              <a:t>Determining K:</a:t>
            </a:r>
            <a:r>
              <a:rPr lang="en-US" dirty="0"/>
              <a:t> Tested k=2 to k=10 using Inertia.</a:t>
            </a:r>
          </a:p>
          <a:p>
            <a:r>
              <a:rPr lang="en-US" b="1" dirty="0" smtClean="0"/>
              <a:t>Decision</a:t>
            </a:r>
            <a:r>
              <a:rPr lang="en-US" b="1" dirty="0"/>
              <a:t>:</a:t>
            </a:r>
            <a:r>
              <a:rPr lang="en-US" dirty="0"/>
              <a:t> Selected </a:t>
            </a:r>
            <a:r>
              <a:rPr lang="en-US" b="1" dirty="0"/>
              <a:t>k = 4</a:t>
            </a:r>
            <a:r>
              <a:rPr lang="en-US" dirty="0"/>
              <a:t> because the "elbow" (rate of change) diminishes significantly at this point.</a:t>
            </a:r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33" y="3081867"/>
            <a:ext cx="9059333" cy="477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296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105468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Part D - PCA Visualization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66249" y="1662623"/>
            <a:ext cx="10673634" cy="13793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500" tIns="47250" rIns="94500" bIns="4725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/>
              <a:t>Technique:</a:t>
            </a:r>
            <a:r>
              <a:rPr lang="en-US" sz="2000" dirty="0"/>
              <a:t> Principal Component Analysis (PCA) reduced dimensions to 2D for visualization.</a:t>
            </a:r>
          </a:p>
          <a:p>
            <a:r>
              <a:rPr lang="en-US" sz="2000" b="1" dirty="0" smtClean="0"/>
              <a:t>Result</a:t>
            </a:r>
            <a:r>
              <a:rPr lang="en-US" sz="2000" b="1" dirty="0"/>
              <a:t>:</a:t>
            </a:r>
            <a:r>
              <a:rPr lang="en-US" sz="2000" dirty="0"/>
              <a:t> Distinct separation between groups confirms that K-Means successfully segmented the customers.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60" dirty="0">
              <a:latin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798" y="3041987"/>
            <a:ext cx="8162925" cy="521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813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4"/>
            <a:ext cx="10867490" cy="80778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Part D - Cluster </a:t>
            </a:r>
            <a:r>
              <a:rPr lang="en-US" b="1" dirty="0" smtClean="0"/>
              <a:t>Profiling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66249" y="1534598"/>
            <a:ext cx="9090551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Profile Summary: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Interpretation (Update based on your numbers):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Cluster 0: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High Value / Recent (VIPs).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Cluster 1: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Low Value / Old (Churned).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Cluster 2: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Mid Value / Recent (Regulars).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Cluster 3: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Low Frequency (New Customers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733" y="3813588"/>
            <a:ext cx="8771467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603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4"/>
            <a:ext cx="10867490" cy="80778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Part E - Power BI Dashboard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66249" y="1286933"/>
            <a:ext cx="90900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 Overview:</a:t>
            </a:r>
            <a:r>
              <a:rPr kumimoji="0" lang="en-US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Interactive tool for marketing team.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467" y="2464610"/>
            <a:ext cx="9084907" cy="528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002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Part E - Recommendations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9" y="1348891"/>
            <a:ext cx="10867490" cy="2850576"/>
          </a:xfrm>
        </p:spPr>
        <p:txBody>
          <a:bodyPr/>
          <a:lstStyle/>
          <a:p>
            <a:r>
              <a:rPr lang="en-US" b="1" dirty="0"/>
              <a:t>Actionable Insights:</a:t>
            </a:r>
            <a:endParaRPr lang="en-US" dirty="0"/>
          </a:p>
          <a:p>
            <a:pPr marL="0" indent="0">
              <a:buNone/>
            </a:pPr>
            <a:r>
              <a:rPr lang="en-US" b="1" dirty="0" smtClean="0"/>
              <a:t>Strategy</a:t>
            </a:r>
            <a:r>
              <a:rPr lang="en-US" b="1" dirty="0"/>
              <a:t>:</a:t>
            </a:r>
            <a:endParaRPr lang="en-US" dirty="0"/>
          </a:p>
          <a:p>
            <a:pPr lvl="1"/>
            <a:r>
              <a:rPr lang="en-US" b="1" dirty="0"/>
              <a:t>VIPs:</a:t>
            </a:r>
            <a:r>
              <a:rPr lang="en-US" dirty="0"/>
              <a:t> Offer exclusive loyalty rewards.</a:t>
            </a:r>
          </a:p>
          <a:p>
            <a:pPr lvl="1"/>
            <a:r>
              <a:rPr lang="en-US" b="1" dirty="0"/>
              <a:t>Churn Risk:</a:t>
            </a:r>
            <a:r>
              <a:rPr lang="en-US" dirty="0"/>
              <a:t> Send "We Miss You" coupons.</a:t>
            </a:r>
          </a:p>
          <a:p>
            <a:pPr lvl="1"/>
            <a:r>
              <a:rPr lang="en-US" b="1" dirty="0"/>
              <a:t>New Customers:</a:t>
            </a:r>
            <a:r>
              <a:rPr lang="en-US" dirty="0"/>
              <a:t> Offer free shipping on next order.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067" y="4487334"/>
            <a:ext cx="9990665" cy="33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1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</TotalTime>
  <Words>412</Words>
  <Application>Microsoft Office PowerPoint</Application>
  <PresentationFormat>Custom</PresentationFormat>
  <Paragraphs>59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Title: Customer Segmentation for Nigerian E-Commerce Retailer Subtitle: CSC 63101: Data Mining and Business Intelligence (Question 2)</vt:lpstr>
      <vt:lpstr>Objectives </vt:lpstr>
      <vt:lpstr>Part A - Data Loading &amp; Preprocessing </vt:lpstr>
      <vt:lpstr>Part B - Descriptive Statistics</vt:lpstr>
      <vt:lpstr>Part B - Distribution Analysis </vt:lpstr>
      <vt:lpstr>Part B - Correlation Analysis </vt:lpstr>
      <vt:lpstr>Part C - Feature Engineering </vt:lpstr>
      <vt:lpstr>Part D - Clustering (Elbow Method) </vt:lpstr>
      <vt:lpstr>Part D - PCA Visualization </vt:lpstr>
      <vt:lpstr>Part D - Cluster Profiling</vt:lpstr>
      <vt:lpstr>Part E - Power BI Dashboard </vt:lpstr>
      <vt:lpstr>Part E - Recommendations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Title: Customer Segmentation for Nigerian E-Commerce Retailer Subtitle: CSC 63101: Data Mining and Business Intelligence (Question 2)</dc:title>
  <dc:creator>Lunatic</dc:creator>
  <cp:lastModifiedBy>Lunatic</cp:lastModifiedBy>
  <cp:revision>19</cp:revision>
  <dcterms:created xsi:type="dcterms:W3CDTF">2025-11-25T18:42:08Z</dcterms:created>
  <dcterms:modified xsi:type="dcterms:W3CDTF">2025-11-26T17:58:15Z</dcterms:modified>
</cp:coreProperties>
</file>