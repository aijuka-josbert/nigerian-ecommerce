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599988" cy="8999538"/>
  <p:notesSz cx="6858000" cy="9144000"/>
  <p:defaultTextStyle>
    <a:defPPr>
      <a:defRPr lang="en-US"/>
    </a:defPPr>
    <a:lvl1pPr marL="0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1pPr>
    <a:lvl2pPr marL="518373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2pPr>
    <a:lvl3pPr marL="1036747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3pPr>
    <a:lvl4pPr marL="1555120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4pPr>
    <a:lvl5pPr marL="2073493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5pPr>
    <a:lvl6pPr marL="2591867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6pPr>
    <a:lvl7pPr marL="3110240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7pPr>
    <a:lvl8pPr marL="3628614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8pPr>
    <a:lvl9pPr marL="4146987" algn="l" defTabSz="1036747" rtl="0" eaLnBrk="1" latinLnBrk="0" hangingPunct="1">
      <a:defRPr sz="204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99" autoAdjust="0"/>
  </p:normalViewPr>
  <p:slideViewPr>
    <p:cSldViewPr snapToGrid="0">
      <p:cViewPr varScale="1">
        <p:scale>
          <a:sx n="51" d="100"/>
          <a:sy n="51" d="100"/>
        </p:scale>
        <p:origin x="14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3D2CC-E283-41C9-A51E-72D8BD3297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1143000"/>
            <a:ext cx="4321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598AC-2BCD-4BF1-A7C7-D38710F74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1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Histogram: Total Spend Distribution (Left Graph)This histogram displays how customer spending is distributed across your e-commerce </a:t>
            </a:r>
            <a:r>
              <a:rPr lang="en-US" dirty="0" err="1" smtClean="0"/>
              <a:t>platform:High</a:t>
            </a:r>
            <a:r>
              <a:rPr lang="en-US" dirty="0" smtClean="0"/>
              <a:t> concentration on the left: Most customers (around 14) spend very little (close to 0), indicating a large base of low-value </a:t>
            </a:r>
            <a:r>
              <a:rPr lang="en-US" dirty="0" err="1" smtClean="0"/>
              <a:t>customersLong</a:t>
            </a:r>
            <a:r>
              <a:rPr lang="en-US" dirty="0" smtClean="0"/>
              <a:t> right tail: A few customers spend significantly more (up to ~1e8, which is 100 million in your currency)KDE curve (purple line): Shows the probability density, confirming the right-skewed </a:t>
            </a:r>
            <a:r>
              <a:rPr lang="en-US" dirty="0" err="1" smtClean="0"/>
              <a:t>distributionInterpretation</a:t>
            </a:r>
            <a:r>
              <a:rPr lang="en-US" dirty="0" smtClean="0"/>
              <a:t>: This is typical for e-commerce - you have many small buyers and a few "whale" customers who contribute disproportionately to </a:t>
            </a:r>
            <a:r>
              <a:rPr lang="en-US" dirty="0" err="1" smtClean="0"/>
              <a:t>revenueBoxplot</a:t>
            </a:r>
            <a:r>
              <a:rPr lang="en-US" dirty="0" smtClean="0"/>
              <a:t>: Order Frequency (Right Graph)This boxplot shows the distribution of how often customers place </a:t>
            </a:r>
            <a:r>
              <a:rPr lang="en-US" dirty="0" err="1" smtClean="0"/>
              <a:t>orders:Box</a:t>
            </a:r>
            <a:r>
              <a:rPr lang="en-US" dirty="0" smtClean="0"/>
              <a:t> (orange): Represents the interquartile range (IQR) where 50% of customers </a:t>
            </a:r>
            <a:r>
              <a:rPr lang="en-US" dirty="0" err="1" smtClean="0"/>
              <a:t>fallMost</a:t>
            </a:r>
            <a:r>
              <a:rPr lang="en-US" dirty="0" smtClean="0"/>
              <a:t> customers order between ~100-800 </a:t>
            </a:r>
            <a:r>
              <a:rPr lang="en-US" dirty="0" err="1" smtClean="0"/>
              <a:t>timesMedian</a:t>
            </a:r>
            <a:r>
              <a:rPr lang="en-US" dirty="0" smtClean="0"/>
              <a:t> (line in box): Around 700 </a:t>
            </a:r>
            <a:r>
              <a:rPr lang="en-US" dirty="0" err="1" smtClean="0"/>
              <a:t>ordersWhiskers</a:t>
            </a:r>
            <a:r>
              <a:rPr lang="en-US" dirty="0" smtClean="0"/>
              <a:t>: Extend to show the typical range (up to ~1000 orders)Outliers (circles): Two customers at approximately 750 and 1250 orders who buy significantly more frequently than </a:t>
            </a:r>
            <a:r>
              <a:rPr lang="en-US" dirty="0" err="1" smtClean="0"/>
              <a:t>othersInterpretation</a:t>
            </a:r>
            <a:r>
              <a:rPr lang="en-US" dirty="0" smtClean="0"/>
              <a:t>: There's relatively consistent ordering behavior for most customers, with a couple of exceptionally active </a:t>
            </a:r>
            <a:r>
              <a:rPr lang="en-US" dirty="0" err="1" smtClean="0"/>
              <a:t>accountsKey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598AC-2BCD-4BF1-A7C7-D38710F74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1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Relationships1. Frequency ↔ </a:t>
            </a:r>
            <a:r>
              <a:rPr lang="en-US" dirty="0" err="1" smtClean="0"/>
              <a:t>Total_Spend</a:t>
            </a:r>
            <a:r>
              <a:rPr lang="en-US" dirty="0" smtClean="0"/>
              <a:t> (0.86) - Strong </a:t>
            </a:r>
            <a:r>
              <a:rPr lang="en-US" dirty="0" err="1" smtClean="0"/>
              <a:t>PositiveCustomers</a:t>
            </a:r>
            <a:r>
              <a:rPr lang="en-US" dirty="0" smtClean="0"/>
              <a:t> who order more frequently tend to spend more </a:t>
            </a:r>
            <a:r>
              <a:rPr lang="en-US" dirty="0" err="1" smtClean="0"/>
              <a:t>overallThis</a:t>
            </a:r>
            <a:r>
              <a:rPr lang="en-US" dirty="0" smtClean="0"/>
              <a:t> is the strongest relationship in your </a:t>
            </a:r>
            <a:r>
              <a:rPr lang="en-US" dirty="0" err="1" smtClean="0"/>
              <a:t>datasetMakes</a:t>
            </a:r>
            <a:r>
              <a:rPr lang="en-US" dirty="0" smtClean="0"/>
              <a:t> business sense: loyal, repeat customers = higher revenue2. Frequency ↔ </a:t>
            </a:r>
            <a:r>
              <a:rPr lang="en-US" dirty="0" err="1" smtClean="0"/>
              <a:t>Days_Since_Last</a:t>
            </a:r>
            <a:r>
              <a:rPr lang="en-US" dirty="0" smtClean="0"/>
              <a:t> (-0.39) - Moderate </a:t>
            </a:r>
            <a:r>
              <a:rPr lang="en-US" dirty="0" err="1" smtClean="0"/>
              <a:t>NegativeMore</a:t>
            </a:r>
            <a:r>
              <a:rPr lang="en-US" dirty="0" smtClean="0"/>
              <a:t> frequent buyers have purchased more </a:t>
            </a:r>
            <a:r>
              <a:rPr lang="en-US" dirty="0" err="1" smtClean="0"/>
              <a:t>recentlyNegative</a:t>
            </a:r>
            <a:r>
              <a:rPr lang="en-US" dirty="0" smtClean="0"/>
              <a:t> correlation means: as frequency increases, days since last order </a:t>
            </a:r>
            <a:r>
              <a:rPr lang="en-US" dirty="0" err="1" smtClean="0"/>
              <a:t>decreasesActive</a:t>
            </a:r>
            <a:r>
              <a:rPr lang="en-US" dirty="0" smtClean="0"/>
              <a:t> customers stay engaged3. </a:t>
            </a:r>
            <a:r>
              <a:rPr lang="en-US" dirty="0" err="1" smtClean="0"/>
              <a:t>Total_Spend</a:t>
            </a:r>
            <a:r>
              <a:rPr lang="en-US" dirty="0" smtClean="0"/>
              <a:t> ↔ </a:t>
            </a:r>
            <a:r>
              <a:rPr lang="en-US" dirty="0" err="1" smtClean="0"/>
              <a:t>Days_Since_Last</a:t>
            </a:r>
            <a:r>
              <a:rPr lang="en-US" dirty="0" smtClean="0"/>
              <a:t> (-0.33) - Moderate </a:t>
            </a:r>
            <a:r>
              <a:rPr lang="en-US" dirty="0" err="1" smtClean="0"/>
              <a:t>NegativeHigh</a:t>
            </a:r>
            <a:r>
              <a:rPr lang="en-US" dirty="0" smtClean="0"/>
              <a:t>-spending customers have purchased more </a:t>
            </a:r>
            <a:r>
              <a:rPr lang="en-US" dirty="0" err="1" smtClean="0"/>
              <a:t>recentlySimilar</a:t>
            </a:r>
            <a:r>
              <a:rPr lang="en-US" dirty="0" smtClean="0"/>
              <a:t> to above: valuable customers remain </a:t>
            </a:r>
            <a:r>
              <a:rPr lang="en-US" dirty="0" err="1" smtClean="0"/>
              <a:t>activeRisk</a:t>
            </a:r>
            <a:r>
              <a:rPr lang="en-US" dirty="0" smtClean="0"/>
              <a:t> indicator: customers with many days since last order are spending less4. </a:t>
            </a:r>
            <a:r>
              <a:rPr lang="en-US" dirty="0" err="1" smtClean="0"/>
              <a:t>Avg_Purchase_Value</a:t>
            </a:r>
            <a:r>
              <a:rPr lang="en-US" dirty="0" smtClean="0"/>
              <a:t> ↔ Other Metrics (Weak Correlations)vs Frequency (-0.17): Slight negative - frequent buyers may purchase smaller amounts per </a:t>
            </a:r>
            <a:r>
              <a:rPr lang="en-US" dirty="0" err="1" smtClean="0"/>
              <a:t>ordervs</a:t>
            </a:r>
            <a:r>
              <a:rPr lang="en-US" dirty="0" smtClean="0"/>
              <a:t> </a:t>
            </a:r>
            <a:r>
              <a:rPr lang="en-US" dirty="0" err="1" smtClean="0"/>
              <a:t>Total_Spend</a:t>
            </a:r>
            <a:r>
              <a:rPr lang="en-US" dirty="0" smtClean="0"/>
              <a:t> (0.04): Almost no correlation - surprising but indicates that total spend is driven by frequency, not order </a:t>
            </a:r>
            <a:r>
              <a:rPr lang="en-US" dirty="0" err="1" smtClean="0"/>
              <a:t>sizevs</a:t>
            </a:r>
            <a:r>
              <a:rPr lang="en-US" dirty="0" smtClean="0"/>
              <a:t> </a:t>
            </a:r>
            <a:r>
              <a:rPr lang="en-US" dirty="0" err="1" smtClean="0"/>
              <a:t>Days_Since_Last</a:t>
            </a:r>
            <a:r>
              <a:rPr lang="en-US" dirty="0" smtClean="0"/>
              <a:t> (-0.16): Weak negative - basket size doesn't strongly predict </a:t>
            </a:r>
            <a:r>
              <a:rPr lang="en-US" dirty="0" err="1" smtClean="0"/>
              <a:t>recency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598AC-2BCD-4BF1-A7C7-D38710F74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58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Elbow Plot </a:t>
            </a:r>
            <a:r>
              <a:rPr lang="en-US" dirty="0" err="1" smtClean="0"/>
              <a:t>AnalysisThis</a:t>
            </a:r>
            <a:r>
              <a:rPr lang="en-US" dirty="0" smtClean="0"/>
              <a:t> graph helps determine the optimal number of clusters (k) for K-Means clustering of your customer </a:t>
            </a:r>
            <a:r>
              <a:rPr lang="en-US" dirty="0" err="1" smtClean="0"/>
              <a:t>data.What</a:t>
            </a:r>
            <a:r>
              <a:rPr lang="en-US" dirty="0" smtClean="0"/>
              <a:t> is </a:t>
            </a:r>
            <a:r>
              <a:rPr lang="en-US" dirty="0" err="1" smtClean="0"/>
              <a:t>Inertia?Inertia</a:t>
            </a:r>
            <a:r>
              <a:rPr lang="en-US" dirty="0" smtClean="0"/>
              <a:t> (Y-axis) measures the sum of squared distances between each data point and its assigned cluster center. Lower inertia = tighter, more cohesive </a:t>
            </a:r>
            <a:r>
              <a:rPr lang="en-US" dirty="0" err="1" smtClean="0"/>
              <a:t>clusters.Reading</a:t>
            </a:r>
            <a:r>
              <a:rPr lang="en-US" dirty="0" smtClean="0"/>
              <a:t> the </a:t>
            </a:r>
            <a:r>
              <a:rPr lang="en-US" dirty="0" err="1" smtClean="0"/>
              <a:t>GraphSteep</a:t>
            </a:r>
            <a:r>
              <a:rPr lang="en-US" dirty="0" smtClean="0"/>
              <a:t> Decline (k=2 to k=4):k=2: Inertia ≈ 30 (very high - customers forced into just 2 groups)k=3: Inertia ≈ 11 (sharp drop - much better separation)k=4: Inertia ≈ 8 (continued improvement)The "Elbow" </a:t>
            </a:r>
            <a:r>
              <a:rPr lang="en-US" dirty="0" err="1" smtClean="0"/>
              <a:t>Point:Occurs</a:t>
            </a:r>
            <a:r>
              <a:rPr lang="en-US" dirty="0" smtClean="0"/>
              <a:t> around k=3 or k=4This is where the curve starts to flatten </a:t>
            </a:r>
            <a:r>
              <a:rPr lang="en-US" dirty="0" err="1" smtClean="0"/>
              <a:t>significantlyAdding</a:t>
            </a:r>
            <a:r>
              <a:rPr lang="en-US" dirty="0" smtClean="0"/>
              <a:t> more clusters beyond this point yields diminishing </a:t>
            </a:r>
            <a:r>
              <a:rPr lang="en-US" dirty="0" err="1" smtClean="0"/>
              <a:t>returnsPlateau</a:t>
            </a:r>
            <a:r>
              <a:rPr lang="en-US" dirty="0" smtClean="0"/>
              <a:t> Phase (k=5 to k=10):k=5: Inertia ≈ 5k=7: Inertia ≈ 3k=10: Inertia ≈ 1The curve becomes nearly flat - minimal improvement despite adding </a:t>
            </a:r>
            <a:r>
              <a:rPr lang="en-US" dirty="0" err="1" smtClean="0"/>
              <a:t>complexityWhy</a:t>
            </a:r>
            <a:r>
              <a:rPr lang="en-US" dirty="0" smtClean="0"/>
              <a:t> Your Code Selected k=4From the code at line 176 in Nigerian_ecommerce1.ipynb, </a:t>
            </a:r>
            <a:r>
              <a:rPr lang="en-US" dirty="0" err="1" smtClean="0"/>
              <a:t>optimal_k</a:t>
            </a:r>
            <a:r>
              <a:rPr lang="en-US" dirty="0" smtClean="0"/>
              <a:t> = 4 was chosen </a:t>
            </a:r>
            <a:r>
              <a:rPr lang="en-US" dirty="0" err="1" smtClean="0"/>
              <a:t>because:Balance</a:t>
            </a:r>
            <a:r>
              <a:rPr lang="en-US" dirty="0" smtClean="0"/>
              <a:t>: Good cluster separation without over-</a:t>
            </a:r>
            <a:r>
              <a:rPr lang="en-US" dirty="0" err="1" smtClean="0"/>
              <a:t>segmentationInterpretability</a:t>
            </a:r>
            <a:r>
              <a:rPr lang="en-US" dirty="0" smtClean="0"/>
              <a:t>: 4 customer segments are manageable for business </a:t>
            </a:r>
            <a:r>
              <a:rPr lang="en-US" dirty="0" err="1" smtClean="0"/>
              <a:t>strategyDiminishing</a:t>
            </a:r>
            <a:r>
              <a:rPr lang="en-US" dirty="0" smtClean="0"/>
              <a:t> Returns: Beyond k=4, each additional cluster adds minimal </a:t>
            </a:r>
            <a:r>
              <a:rPr lang="en-US" dirty="0" err="1" smtClean="0"/>
              <a:t>valueBusiness</a:t>
            </a:r>
            <a:r>
              <a:rPr lang="en-US" dirty="0" smtClean="0"/>
              <a:t> </a:t>
            </a:r>
            <a:r>
              <a:rPr lang="en-US" dirty="0" err="1" smtClean="0"/>
              <a:t>ImplicationsWith</a:t>
            </a:r>
            <a:r>
              <a:rPr lang="en-US" dirty="0" smtClean="0"/>
              <a:t> k=4, you likely have customer segments </a:t>
            </a:r>
            <a:r>
              <a:rPr lang="en-US" dirty="0" err="1" smtClean="0"/>
              <a:t>like:High-value</a:t>
            </a:r>
            <a:r>
              <a:rPr lang="en-US" dirty="0" smtClean="0"/>
              <a:t> loyalists (frequent, recent, high spend)Regular customers (moderate on all metrics)At-risk customers (infrequent, not recent)New/occasional buyers (low frequency, varied spend)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598AC-2BCD-4BF1-A7C7-D38710F741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93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PCA 2D Visualization of </a:t>
            </a:r>
            <a:r>
              <a:rPr lang="en-US" dirty="0" err="1" smtClean="0"/>
              <a:t>ClustersThis</a:t>
            </a:r>
            <a:r>
              <a:rPr lang="en-US" dirty="0" smtClean="0"/>
              <a:t> scatter plot shows your customer segmentation after dimensionality reduction using Principal Component Analysis (PCA).What is PCA?PCA takes your 3 clustering features (</a:t>
            </a:r>
            <a:r>
              <a:rPr lang="en-US" dirty="0" err="1" smtClean="0"/>
              <a:t>Days_Since_Last</a:t>
            </a:r>
            <a:r>
              <a:rPr lang="en-US" dirty="0" smtClean="0"/>
              <a:t>, Frequency, </a:t>
            </a:r>
            <a:r>
              <a:rPr lang="en-US" dirty="0" err="1" smtClean="0"/>
              <a:t>Loyalty_Index</a:t>
            </a:r>
            <a:r>
              <a:rPr lang="en-US" dirty="0" smtClean="0"/>
              <a:t>) and compresses them into 2 dimensions (PCA1 and PCA2) while preserving as much variance as possible. This allows visualization of multi-dimensional clusters on a 2D </a:t>
            </a:r>
            <a:r>
              <a:rPr lang="en-US" dirty="0" err="1" smtClean="0"/>
              <a:t>plot.The</a:t>
            </a:r>
            <a:r>
              <a:rPr lang="en-US" dirty="0" smtClean="0"/>
              <a:t> Four </a:t>
            </a:r>
            <a:r>
              <a:rPr lang="en-US" dirty="0" err="1" smtClean="0"/>
              <a:t>ClustersCluster</a:t>
            </a:r>
            <a:r>
              <a:rPr lang="en-US" dirty="0" smtClean="0"/>
              <a:t> 0 (Purple) - Moderate/Average </a:t>
            </a:r>
            <a:r>
              <a:rPr lang="en-US" dirty="0" err="1" smtClean="0"/>
              <a:t>CustomersLocation</a:t>
            </a:r>
            <a:r>
              <a:rPr lang="en-US" dirty="0" smtClean="0"/>
              <a:t>: Center of the plot (PCA1: 0 to 1.5, PCA2: -0.5 to -0.2)Characteristics: Likely average across all </a:t>
            </a:r>
            <a:r>
              <a:rPr lang="en-US" dirty="0" err="1" smtClean="0"/>
              <a:t>metricsCount</a:t>
            </a:r>
            <a:r>
              <a:rPr lang="en-US" dirty="0" smtClean="0"/>
              <a:t>: ~5 </a:t>
            </a:r>
            <a:r>
              <a:rPr lang="en-US" dirty="0" err="1" smtClean="0"/>
              <a:t>customersBusiness</a:t>
            </a:r>
            <a:r>
              <a:rPr lang="en-US" dirty="0" smtClean="0"/>
              <a:t> value: Standard customers requiring routine </a:t>
            </a:r>
            <a:r>
              <a:rPr lang="en-US" dirty="0" err="1" smtClean="0"/>
              <a:t>engagementCluster</a:t>
            </a:r>
            <a:r>
              <a:rPr lang="en-US" dirty="0" smtClean="0"/>
              <a:t> 1 (Teal/Blue) - High-Value </a:t>
            </a:r>
            <a:r>
              <a:rPr lang="en-US" dirty="0" err="1" smtClean="0"/>
              <a:t>VIPsLocation</a:t>
            </a:r>
            <a:r>
              <a:rPr lang="en-US" dirty="0" smtClean="0"/>
              <a:t>: Top-right and right side (PCA1: 3.5 to 4.5, PCA2: 1.0 to 1.25)Characteristics: High frequency, high loyalty index, recent </a:t>
            </a:r>
            <a:r>
              <a:rPr lang="en-US" dirty="0" err="1" smtClean="0"/>
              <a:t>activityCount</a:t>
            </a:r>
            <a:r>
              <a:rPr lang="en-US" dirty="0" smtClean="0"/>
              <a:t>: ~2 </a:t>
            </a:r>
            <a:r>
              <a:rPr lang="en-US" dirty="0" err="1" smtClean="0"/>
              <a:t>customersBusiness</a:t>
            </a:r>
            <a:r>
              <a:rPr lang="en-US" dirty="0" smtClean="0"/>
              <a:t> value: Your most valuable customers - require VIP treatment and retention </a:t>
            </a:r>
            <a:r>
              <a:rPr lang="en-US" dirty="0" err="1" smtClean="0"/>
              <a:t>focusCluster</a:t>
            </a:r>
            <a:r>
              <a:rPr lang="en-US" dirty="0" smtClean="0"/>
              <a:t> 2 (Green) - Engaged Regular </a:t>
            </a:r>
            <a:r>
              <a:rPr lang="en-US" dirty="0" err="1" smtClean="0"/>
              <a:t>CustomersLocation</a:t>
            </a:r>
            <a:r>
              <a:rPr lang="en-US" dirty="0" smtClean="0"/>
              <a:t>: Top-left quadrant (PCA1: -1.5 to -0.5, PCA2: 0.3 to 2.2)Characteristics: Good engagement, moderate-to-good </a:t>
            </a:r>
            <a:r>
              <a:rPr lang="en-US" dirty="0" err="1" smtClean="0"/>
              <a:t>loyaltyCount</a:t>
            </a:r>
            <a:r>
              <a:rPr lang="en-US" dirty="0" smtClean="0"/>
              <a:t>: ~6 </a:t>
            </a:r>
            <a:r>
              <a:rPr lang="en-US" dirty="0" err="1" smtClean="0"/>
              <a:t>customersBusiness</a:t>
            </a:r>
            <a:r>
              <a:rPr lang="en-US" dirty="0" smtClean="0"/>
              <a:t> value: Growth potential - could be upgraded to VIP </a:t>
            </a:r>
            <a:r>
              <a:rPr lang="en-US" dirty="0" err="1" smtClean="0"/>
              <a:t>statusCluster</a:t>
            </a:r>
            <a:r>
              <a:rPr lang="en-US" dirty="0" smtClean="0"/>
              <a:t> 3 (Yellow) - At-Risk/Low </a:t>
            </a:r>
            <a:r>
              <a:rPr lang="en-US" dirty="0" err="1" smtClean="0"/>
              <a:t>EngagementLocation</a:t>
            </a:r>
            <a:r>
              <a:rPr lang="en-US" dirty="0" smtClean="0"/>
              <a:t>: Bottom-center (PCA1: -0.8 to 0.3, PCA2: -0.9 to 0)Characteristics: Likely low frequency, high days since last order, lower </a:t>
            </a:r>
            <a:r>
              <a:rPr lang="en-US" dirty="0" err="1" smtClean="0"/>
              <a:t>loyaltyCount</a:t>
            </a:r>
            <a:r>
              <a:rPr lang="en-US" dirty="0" smtClean="0"/>
              <a:t>: ~10 </a:t>
            </a:r>
            <a:r>
              <a:rPr lang="en-US" dirty="0" err="1" smtClean="0"/>
              <a:t>customersBusiness</a:t>
            </a:r>
            <a:r>
              <a:rPr lang="en-US" dirty="0" smtClean="0"/>
              <a:t> value: Churn risk - needs re-engagement </a:t>
            </a:r>
            <a:r>
              <a:rPr lang="en-US" dirty="0" err="1" smtClean="0"/>
              <a:t>campaignsKey</a:t>
            </a:r>
            <a:r>
              <a:rPr lang="en-US" dirty="0" smtClean="0"/>
              <a:t> </a:t>
            </a:r>
            <a:r>
              <a:rPr lang="en-US" dirty="0" err="1" smtClean="0"/>
              <a:t>ObservationsClear</a:t>
            </a:r>
            <a:r>
              <a:rPr lang="en-US" dirty="0" smtClean="0"/>
              <a:t> Separation: Clusters are well-separated, validating your k=4 choice from the elbow </a:t>
            </a:r>
            <a:r>
              <a:rPr lang="en-US" dirty="0" err="1" smtClean="0"/>
              <a:t>plotSize</a:t>
            </a:r>
            <a:r>
              <a:rPr lang="en-US" dirty="0" smtClean="0"/>
              <a:t> Distribution: Cluster 3 (at-risk) is largest, suggesting many customers need </a:t>
            </a:r>
            <a:r>
              <a:rPr lang="en-US" dirty="0" err="1" smtClean="0"/>
              <a:t>attentionOutliers</a:t>
            </a:r>
            <a:r>
              <a:rPr lang="en-US" dirty="0" smtClean="0"/>
              <a:t>: Cluster 1 customers are far from others, confirming they're exceptional "whale" </a:t>
            </a:r>
            <a:r>
              <a:rPr lang="en-US" dirty="0" err="1" smtClean="0"/>
              <a:t>customersNatural</a:t>
            </a:r>
            <a:r>
              <a:rPr lang="en-US" dirty="0" smtClean="0"/>
              <a:t> Grouping: The spatial distribution shows natural customer segments rather than forced </a:t>
            </a:r>
            <a:r>
              <a:rPr lang="en-US" dirty="0" err="1" smtClean="0"/>
              <a:t>divisionsBusiness</a:t>
            </a:r>
            <a:r>
              <a:rPr lang="en-US" dirty="0" smtClean="0"/>
              <a:t> </a:t>
            </a:r>
            <a:r>
              <a:rPr lang="en-US" dirty="0" err="1" smtClean="0"/>
              <a:t>StrategyBased</a:t>
            </a:r>
            <a:r>
              <a:rPr lang="en-US" dirty="0" smtClean="0"/>
              <a:t> on this visualization from </a:t>
            </a:r>
            <a:r>
              <a:rPr lang="en-US" dirty="0" err="1" smtClean="0"/>
              <a:t>customer_df:Cluster</a:t>
            </a:r>
            <a:r>
              <a:rPr lang="en-US" dirty="0" smtClean="0"/>
              <a:t> 1: Retain at all costs (personalized service, exclusive offers)Cluster 2: Upsell opportunities (loyalty programs, volume incentives)Cluster 3: Win-back campaigns (discounts, re-engagement emails)Cluster 0: Standard marketing mix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598AC-2BCD-4BF1-A7C7-D38710F741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76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1472842"/>
            <a:ext cx="1070999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4726842"/>
            <a:ext cx="9449991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6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9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2243638"/>
            <a:ext cx="1086749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6022610"/>
            <a:ext cx="1086749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/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2395710"/>
            <a:ext cx="5354995" cy="571012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2395710"/>
            <a:ext cx="5354995" cy="571012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4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479144"/>
            <a:ext cx="10867490" cy="17394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2206137"/>
            <a:ext cx="5330385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3287331"/>
            <a:ext cx="5330385" cy="48351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2206137"/>
            <a:ext cx="5356636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3287331"/>
            <a:ext cx="5356636" cy="48351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78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50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34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99969"/>
            <a:ext cx="4063824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1295769"/>
            <a:ext cx="6378744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2699862"/>
            <a:ext cx="4063824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5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99969"/>
            <a:ext cx="4063824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1295769"/>
            <a:ext cx="6378744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2699862"/>
            <a:ext cx="4063824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4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99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479142"/>
            <a:ext cx="2716872" cy="762669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479142"/>
            <a:ext cx="7993117" cy="762669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8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479144"/>
            <a:ext cx="1086749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2395710"/>
            <a:ext cx="1086749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8341240"/>
            <a:ext cx="283499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1BED8-B4F5-48AF-8FB9-C7A2AB26CA8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8341240"/>
            <a:ext cx="42524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8341240"/>
            <a:ext cx="283499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386A0-7C32-4B55-92CA-3E458892D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0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74998" y="3006171"/>
            <a:ext cx="8260365" cy="68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500" tIns="47250" rIns="94500" bIns="472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1860" b="1" dirty="0">
                <a:latin typeface="Arial" panose="020B0604020202020204" pitchFamily="34" charset="0"/>
              </a:rPr>
              <a:t>Title:</a:t>
            </a:r>
            <a:r>
              <a:rPr lang="en-US" altLang="en-US" sz="1860" dirty="0">
                <a:latin typeface="Arial" panose="020B0604020202020204" pitchFamily="34" charset="0"/>
              </a:rPr>
              <a:t> Customer Segmentation for Nigerian E-Commerce Retailer</a:t>
            </a:r>
          </a:p>
          <a:p>
            <a:pPr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1860" b="1" dirty="0">
                <a:latin typeface="Arial" panose="020B0604020202020204" pitchFamily="34" charset="0"/>
              </a:rPr>
              <a:t>Subtitle:</a:t>
            </a:r>
            <a:r>
              <a:rPr lang="en-US" altLang="en-US" sz="1860" dirty="0">
                <a:latin typeface="Arial" panose="020B0604020202020204" pitchFamily="34" charset="0"/>
              </a:rPr>
              <a:t> CSC 63101: Data Mining and Business Intelligence (Question 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Aijuka Josbert</a:t>
            </a:r>
          </a:p>
          <a:p>
            <a:r>
              <a:rPr lang="en-US" dirty="0" smtClean="0"/>
              <a:t>2023-B071-20758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27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90516" y="2362081"/>
            <a:ext cx="120801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Nigerian retail company wants to improve marketing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targeted segmentation.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Objective: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 raw sales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customer behavior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 features (Loyalty &amp;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Recency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K-Means Clustering to group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interactive Dashboard for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Used: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Notebook&amp; Power BI.</a:t>
            </a:r>
          </a:p>
        </p:txBody>
      </p:sp>
    </p:spTree>
    <p:extLst>
      <p:ext uri="{BB962C8B-B14F-4D97-AF65-F5344CB8AC3E}">
        <p14:creationId xmlns:p14="http://schemas.microsoft.com/office/powerpoint/2010/main" val="100995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544" y="457795"/>
            <a:ext cx="10867489" cy="110400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Part A - Data Loading &amp; Preprocessing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28455" y="1023741"/>
            <a:ext cx="8613012" cy="2224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500" tIns="47250" rIns="94500" bIns="4725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Data Preprocessing</a:t>
            </a:r>
          </a:p>
          <a:p>
            <a:r>
              <a:rPr lang="en-US" sz="2000" b="1" dirty="0"/>
              <a:t>Steps Taken:</a:t>
            </a:r>
            <a:endParaRPr lang="en-US" sz="2000" dirty="0"/>
          </a:p>
          <a:p>
            <a:pPr lvl="1"/>
            <a:r>
              <a:rPr lang="en-US" sz="2000" dirty="0"/>
              <a:t>Loaded dataset and converted Dates.</a:t>
            </a:r>
          </a:p>
          <a:p>
            <a:pPr lvl="1"/>
            <a:r>
              <a:rPr lang="en-US" sz="2000" dirty="0"/>
              <a:t>Removed duplicates and missing values.</a:t>
            </a:r>
          </a:p>
          <a:p>
            <a:pPr lvl="1"/>
            <a:r>
              <a:rPr lang="en-US" sz="2000" dirty="0"/>
              <a:t>Aggregated data to </a:t>
            </a:r>
            <a:r>
              <a:rPr lang="en-US" sz="2000" b="1" dirty="0"/>
              <a:t>Customer Level</a:t>
            </a:r>
            <a:r>
              <a:rPr lang="en-US" sz="2000" dirty="0"/>
              <a:t> (grouped by Business Name).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44" y="3120994"/>
            <a:ext cx="8744126" cy="547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8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49" y="206605"/>
            <a:ext cx="10867490" cy="7800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B - Descriptive Statistics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75216" y="1139498"/>
            <a:ext cx="1119409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Summary of key variables (Frequency, Total Spend,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Dayss-since_last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"The data shows high variance in Total Spend, indicating a mix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wholesale and retail buyers.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33" y="3356609"/>
            <a:ext cx="8127999" cy="453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7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49" y="479145"/>
            <a:ext cx="10867490" cy="8399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B - Distribution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49" y="899140"/>
            <a:ext cx="10867490" cy="2368993"/>
          </a:xfrm>
        </p:spPr>
        <p:txBody>
          <a:bodyPr>
            <a:normAutofit/>
          </a:bodyPr>
          <a:lstStyle/>
          <a:p>
            <a:r>
              <a:rPr lang="en-US" b="1" dirty="0"/>
              <a:t>Visuals:</a:t>
            </a:r>
            <a:r>
              <a:rPr lang="en-US" dirty="0"/>
              <a:t> Understanding data spread and outliers.</a:t>
            </a:r>
          </a:p>
          <a:p>
            <a:r>
              <a:rPr lang="en-US" b="1" dirty="0" smtClean="0"/>
              <a:t>Observation</a:t>
            </a:r>
            <a:r>
              <a:rPr lang="en-US" b="1" dirty="0"/>
              <a:t>:</a:t>
            </a:r>
            <a:r>
              <a:rPr lang="en-US" dirty="0"/>
              <a:t> The data is right-skewed; most customers buy infrequently, but a few "whales" buy very often.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81" y="3522133"/>
            <a:ext cx="11325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0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49" y="479144"/>
            <a:ext cx="10867490" cy="6122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B - Correlation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20" y="785264"/>
            <a:ext cx="10867490" cy="197487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Goal:</a:t>
            </a:r>
            <a:r>
              <a:rPr lang="en-US" dirty="0"/>
              <a:t> Identify relationships between variables.</a:t>
            </a:r>
          </a:p>
          <a:p>
            <a:pPr marL="0" indent="0">
              <a:buNone/>
            </a:pPr>
            <a:r>
              <a:rPr lang="en-US" b="1" dirty="0" smtClean="0"/>
              <a:t>Interpretation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Strong positive correlation between Frequency and Total Spend.</a:t>
            </a:r>
          </a:p>
          <a:p>
            <a:pPr lvl="1"/>
            <a:r>
              <a:rPr lang="en-US" dirty="0"/>
              <a:t>Negative correlation between Days Since Last Order and Spend (Churned customers spend less).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49" y="2760135"/>
            <a:ext cx="9717084" cy="597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7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49" y="479145"/>
            <a:ext cx="10867490" cy="9661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C - Feature Engineering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49" y="1171594"/>
            <a:ext cx="10867490" cy="229973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Derived Features:</a:t>
            </a:r>
            <a:endParaRPr lang="en-US" dirty="0"/>
          </a:p>
          <a:p>
            <a:pPr lvl="1"/>
            <a:r>
              <a:rPr lang="en-US" b="1" dirty="0"/>
              <a:t>Loyalty Index:</a:t>
            </a:r>
            <a:r>
              <a:rPr lang="en-US" dirty="0"/>
              <a:t> Calculated as Frequency × </a:t>
            </a:r>
            <a:r>
              <a:rPr lang="en-US" dirty="0" err="1"/>
              <a:t>Avg_Purchase_Value</a:t>
            </a:r>
            <a:r>
              <a:rPr lang="en-US" dirty="0"/>
              <a:t>. This highlights high-volume, high-value clients.</a:t>
            </a:r>
          </a:p>
          <a:p>
            <a:pPr lvl="1"/>
            <a:r>
              <a:rPr lang="en-US" b="1" dirty="0" err="1"/>
              <a:t>Recency</a:t>
            </a:r>
            <a:r>
              <a:rPr lang="en-US" b="1" dirty="0"/>
              <a:t> Score:</a:t>
            </a:r>
            <a:r>
              <a:rPr lang="en-US" dirty="0"/>
              <a:t> Categorical score (1–5) derived from 'Days Since Last Purchase'.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65" y="6781800"/>
            <a:ext cx="8802429" cy="21062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64" y="3727449"/>
            <a:ext cx="8802429" cy="250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2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49" y="479145"/>
            <a:ext cx="10867490" cy="5974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D - Clustering (Elbow Method)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49" y="1076633"/>
            <a:ext cx="10867490" cy="227616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Algorithm:</a:t>
            </a:r>
            <a:r>
              <a:rPr lang="en-US" dirty="0"/>
              <a:t> K-Means Clustering.</a:t>
            </a:r>
          </a:p>
          <a:p>
            <a:r>
              <a:rPr lang="en-US" b="1" dirty="0"/>
              <a:t>Determining K:</a:t>
            </a:r>
            <a:r>
              <a:rPr lang="en-US" dirty="0"/>
              <a:t> Tested k=2 to k=10 using Inertia.</a:t>
            </a:r>
          </a:p>
          <a:p>
            <a:r>
              <a:rPr lang="en-US" b="1" dirty="0" smtClean="0"/>
              <a:t>Decision</a:t>
            </a:r>
            <a:r>
              <a:rPr lang="en-US" b="1" dirty="0"/>
              <a:t>:</a:t>
            </a:r>
            <a:r>
              <a:rPr lang="en-US" dirty="0"/>
              <a:t> Selected </a:t>
            </a:r>
            <a:r>
              <a:rPr lang="en-US" b="1" dirty="0"/>
              <a:t>k = 4</a:t>
            </a:r>
            <a:r>
              <a:rPr lang="en-US" dirty="0"/>
              <a:t> because the "elbow" (rate of change) diminishes significantly at this point.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33" y="3081867"/>
            <a:ext cx="9059333" cy="477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9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49" y="479145"/>
            <a:ext cx="10867490" cy="1054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D - PCA Visualization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249" y="1662623"/>
            <a:ext cx="10673634" cy="1379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500" tIns="47250" rIns="94500" bIns="4725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Technique:</a:t>
            </a:r>
            <a:r>
              <a:rPr lang="en-US" sz="2000" dirty="0"/>
              <a:t> Principal Component Analysis (PCA) reduced dimensions to 2D for visualization.</a:t>
            </a:r>
          </a:p>
          <a:p>
            <a:r>
              <a:rPr lang="en-US" sz="2000" b="1" dirty="0" smtClean="0"/>
              <a:t>Result</a:t>
            </a:r>
            <a:r>
              <a:rPr lang="en-US" sz="2000" b="1" dirty="0"/>
              <a:t>:</a:t>
            </a:r>
            <a:r>
              <a:rPr lang="en-US" sz="2000" dirty="0"/>
              <a:t> Distinct separation between groups confirms that K-Means successfully segmented the customers.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60" dirty="0"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798" y="3041987"/>
            <a:ext cx="81629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1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0370" y="638069"/>
            <a:ext cx="7399810" cy="2099892"/>
          </a:xfrm>
        </p:spPr>
        <p:txBody>
          <a:bodyPr>
            <a:normAutofit/>
          </a:bodyPr>
          <a:lstStyle/>
          <a:p>
            <a:r>
              <a:rPr lang="en-US" b="1" dirty="0"/>
              <a:t>Part D - Cluster </a:t>
            </a:r>
            <a:r>
              <a:rPr lang="en-US" b="1" dirty="0" smtClean="0"/>
              <a:t>Profiling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950" y="3099911"/>
            <a:ext cx="9010650" cy="50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0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49" y="479144"/>
            <a:ext cx="10867490" cy="8077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E - Power BI Dashboard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249" y="1286933"/>
            <a:ext cx="90900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Overview: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Interactive tool for marketing team.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24" y="1828271"/>
            <a:ext cx="11873176" cy="717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0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 E - Recommendations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49" y="1348891"/>
            <a:ext cx="10867490" cy="2850576"/>
          </a:xfrm>
        </p:spPr>
        <p:txBody>
          <a:bodyPr/>
          <a:lstStyle/>
          <a:p>
            <a:r>
              <a:rPr lang="en-US" b="1" dirty="0"/>
              <a:t>Actionable Insights: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Strategy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b="1" dirty="0"/>
              <a:t>VIPs:</a:t>
            </a:r>
            <a:r>
              <a:rPr lang="en-US" dirty="0"/>
              <a:t> Offer exclusive loyalty rewards.</a:t>
            </a:r>
          </a:p>
          <a:p>
            <a:pPr lvl="1"/>
            <a:r>
              <a:rPr lang="en-US" b="1" dirty="0"/>
              <a:t>Churn Risk:</a:t>
            </a:r>
            <a:r>
              <a:rPr lang="en-US" dirty="0"/>
              <a:t> Send "We Miss You" coupons.</a:t>
            </a:r>
          </a:p>
          <a:p>
            <a:pPr lvl="1"/>
            <a:r>
              <a:rPr lang="en-US" b="1" dirty="0"/>
              <a:t>New Customers:</a:t>
            </a:r>
            <a:r>
              <a:rPr lang="en-US" dirty="0"/>
              <a:t> Offer free shipping on next order.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67" y="4487334"/>
            <a:ext cx="9990665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1354</Words>
  <Application>Microsoft Office PowerPoint</Application>
  <PresentationFormat>Custom</PresentationFormat>
  <Paragraphs>61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Title: Customer Segmentation for Nigerian E-Commerce Retailer Subtitle: CSC 63101: Data Mining and Business Intelligence (Question 2)</vt:lpstr>
      <vt:lpstr>Objectives </vt:lpstr>
      <vt:lpstr>Part A - Data Loading &amp; Preprocessing </vt:lpstr>
      <vt:lpstr>Part B - Descriptive Statistics</vt:lpstr>
      <vt:lpstr>Part B - Distribution Analysis </vt:lpstr>
      <vt:lpstr>Part B - Correlation Analysis </vt:lpstr>
      <vt:lpstr>Part C - Feature Engineering </vt:lpstr>
      <vt:lpstr>Part D - Clustering (Elbow Method) </vt:lpstr>
      <vt:lpstr>Part D - PCA Visualization </vt:lpstr>
      <vt:lpstr>Part D - Cluster Profiling</vt:lpstr>
      <vt:lpstr>Part E - Power BI Dashboard </vt:lpstr>
      <vt:lpstr>Part E -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Customer Segmentation for Nigerian E-Commerce Retailer Subtitle: CSC 63101: Data Mining and Business Intelligence (Question 2)</dc:title>
  <dc:creator>Lunatic</dc:creator>
  <cp:lastModifiedBy>Lunatic</cp:lastModifiedBy>
  <cp:revision>29</cp:revision>
  <dcterms:created xsi:type="dcterms:W3CDTF">2025-11-25T18:42:08Z</dcterms:created>
  <dcterms:modified xsi:type="dcterms:W3CDTF">2025-12-14T08:03:14Z</dcterms:modified>
</cp:coreProperties>
</file>